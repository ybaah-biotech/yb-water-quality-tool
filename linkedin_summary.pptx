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128016"/>
          </a:xfrm>
          <a:prstGeom prst="rect">
            <a:avLst/>
          </a:prstGeom>
          <a:solidFill>
            <a:srgbClr val="0C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96012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Water Quality Monitoring
&amp; Eutrophication Risk 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246120"/>
            <a:ext cx="6400800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42900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AE6FD"/>
                </a:solidFill>
                <a:latin typeface="Calibri"/>
              </a:rPr>
              <a:t>A physicochemical scoring model for freshwater pond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MSc Environmental Monitoring Project  | 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24160" y="822960"/>
            <a:ext cx="1280160" cy="1280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07040" y="2423160"/>
            <a:ext cx="822960" cy="8229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241280" y="3520440"/>
            <a:ext cx="502920" cy="50292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109728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0C4A6E"/>
                </a:solidFill>
                <a:latin typeface="Calibri"/>
              </a:rPr>
              <a:t>Why Does Eutrophication Matter?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44752"/>
            <a:ext cx="164592" cy="16459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Excess nutrients (phosphorus &amp; nitrogen) from agricultural runoff cause rapid algal blooms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203703"/>
            <a:ext cx="164592" cy="16459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84831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Algal decomposition consumes dissolved oxygen, triggering hypoxia and fish kills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962656"/>
            <a:ext cx="164592" cy="16459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43784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Harmful cyanobacteria toxins contaminate water and restrict recreational use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721608"/>
            <a:ext cx="164592" cy="16459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60273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Internal phosphorus release from sediments can keep ponds locked in a polluted state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4480559"/>
            <a:ext cx="164592" cy="16459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361688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Nutrient-rich outflows spread eutrophication to connected streams and lakes downstream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Source: Environmental monitoring literature and MSc experimental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13385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0C4A6E"/>
                </a:solidFill>
                <a:latin typeface="Calibri"/>
              </a:rPr>
              <a:t>13 Physicochemical Parameters Monitored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2296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Each parameter reflects a different dimension of pond health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3657600" cy="5212080"/>
          </a:xfrm>
          <a:prstGeom prst="rect">
            <a:avLst/>
          </a:prstGeom>
          <a:solidFill>
            <a:srgbClr val="DCFCE7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3657600" cy="54864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3474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15803D"/>
                </a:solidFill>
                <a:latin typeface="Calibri"/>
              </a:rPr>
              <a:t>NUTRIENTS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marL="342900">
              <a:spcAft>
                <a:spcPts val="1000"/>
              </a:spcAft>
              <a:buChar char="▸"/>
            </a:pPr>
            <a:r>
              <a:rPr sz="1400">
                <a:solidFill>
                  <a:srgbClr val="1E293B"/>
                </a:solidFill>
                <a:latin typeface="Calibri"/>
              </a:rPr>
              <a:t>Phosphate (PO₄³⁻)</a:t>
            </a:r>
          </a:p>
          <a:p>
            <a:pPr indent="-228600" marL="342900">
              <a:spcAft>
                <a:spcPts val="1000"/>
              </a:spcAft>
              <a:buChar char="▸"/>
            </a:pPr>
            <a:r>
              <a:rPr sz="1400">
                <a:solidFill>
                  <a:srgbClr val="1E293B"/>
                </a:solidFill>
                <a:latin typeface="Calibri"/>
              </a:rPr>
              <a:t>Nitrate (NO₃⁻)</a:t>
            </a:r>
          </a:p>
          <a:p>
            <a:pPr indent="-228600" marL="342900">
              <a:spcAft>
                <a:spcPts val="1000"/>
              </a:spcAft>
              <a:buChar char="▸"/>
            </a:pPr>
            <a:r>
              <a:rPr sz="1400">
                <a:solidFill>
                  <a:srgbClr val="1E293B"/>
                </a:solidFill>
                <a:latin typeface="Calibri"/>
              </a:rPr>
              <a:t>Total Nitrogen</a:t>
            </a:r>
          </a:p>
          <a:p>
            <a:pPr indent="-228600" marL="342900">
              <a:spcAft>
                <a:spcPts val="1000"/>
              </a:spcAft>
              <a:buChar char="▸"/>
            </a:pPr>
            <a:r>
              <a:rPr sz="1400">
                <a:solidFill>
                  <a:srgbClr val="1E293B"/>
                </a:solidFill>
                <a:latin typeface="Calibri"/>
              </a:rPr>
              <a:t>Ammonia (NH₃)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3657600" cy="5212080"/>
          </a:xfrm>
          <a:prstGeom prst="rect">
            <a:avLst/>
          </a:prstGeom>
          <a:solidFill>
            <a:srgbClr val="E0F2FE"/>
          </a:solidFill>
          <a:ln w="190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3657600" cy="54864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371600"/>
            <a:ext cx="3474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0369A1"/>
                </a:solidFill>
                <a:latin typeface="Calibri"/>
              </a:rPr>
              <a:t>OXYGEN &amp; REDOX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1168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marL="342900">
              <a:spcAft>
                <a:spcPts val="1000"/>
              </a:spcAft>
              <a:buChar char="▸"/>
            </a:pPr>
            <a:r>
              <a:rPr sz="1400">
                <a:solidFill>
                  <a:srgbClr val="1E293B"/>
                </a:solidFill>
                <a:latin typeface="Calibri"/>
              </a:rPr>
              <a:t>Dissolved Oxygen (mg/L)</a:t>
            </a:r>
          </a:p>
          <a:p>
            <a:pPr indent="-228600" marL="342900">
              <a:spcAft>
                <a:spcPts val="1000"/>
              </a:spcAft>
              <a:buChar char="▸"/>
            </a:pPr>
            <a:r>
              <a:rPr sz="1400">
                <a:solidFill>
                  <a:srgbClr val="1E293B"/>
                </a:solidFill>
                <a:latin typeface="Calibri"/>
              </a:rPr>
              <a:t>Dissolved Oxygen (%DO)</a:t>
            </a:r>
          </a:p>
          <a:p>
            <a:pPr indent="-228600" marL="342900">
              <a:spcAft>
                <a:spcPts val="1000"/>
              </a:spcAft>
              <a:buChar char="▸"/>
            </a:pPr>
            <a:r>
              <a:rPr sz="1400">
                <a:solidFill>
                  <a:srgbClr val="1E293B"/>
                </a:solidFill>
                <a:latin typeface="Calibri"/>
              </a:rPr>
              <a:t>ORP (mV)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371600"/>
            <a:ext cx="3657600" cy="5212080"/>
          </a:xfrm>
          <a:prstGeom prst="rect">
            <a:avLst/>
          </a:prstGeom>
          <a:solidFill>
            <a:srgbClr val="FEF9C3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371600"/>
            <a:ext cx="3657600" cy="548640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371600"/>
            <a:ext cx="3474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92400E"/>
                </a:solidFill>
                <a:latin typeface="Calibri"/>
              </a:rPr>
              <a:t>WATER PROPERTIES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01168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marL="342900">
              <a:spcAft>
                <a:spcPts val="1000"/>
              </a:spcAft>
              <a:buChar char="▸"/>
            </a:pPr>
            <a:r>
              <a:rPr sz="1400">
                <a:solidFill>
                  <a:srgbClr val="1E293B"/>
                </a:solidFill>
                <a:latin typeface="Calibri"/>
              </a:rPr>
              <a:t>pH</a:t>
            </a:r>
          </a:p>
          <a:p>
            <a:pPr indent="-228600" marL="342900">
              <a:spcAft>
                <a:spcPts val="1000"/>
              </a:spcAft>
              <a:buChar char="▸"/>
            </a:pPr>
            <a:r>
              <a:rPr sz="1400">
                <a:solidFill>
                  <a:srgbClr val="1E293B"/>
                </a:solidFill>
                <a:latin typeface="Calibri"/>
              </a:rPr>
              <a:t>Temperature (°C)</a:t>
            </a:r>
          </a:p>
          <a:p>
            <a:pPr indent="-228600" marL="342900">
              <a:spcAft>
                <a:spcPts val="1000"/>
              </a:spcAft>
              <a:buChar char="▸"/>
            </a:pPr>
            <a:r>
              <a:rPr sz="1400">
                <a:solidFill>
                  <a:srgbClr val="1E293B"/>
                </a:solidFill>
                <a:latin typeface="Calibri"/>
              </a:rPr>
              <a:t>Conductivity (EC)</a:t>
            </a:r>
          </a:p>
          <a:p>
            <a:pPr indent="-228600" marL="342900">
              <a:spcAft>
                <a:spcPts val="1000"/>
              </a:spcAft>
              <a:buChar char="▸"/>
            </a:pPr>
            <a:r>
              <a:rPr sz="1400">
                <a:solidFill>
                  <a:srgbClr val="1E293B"/>
                </a:solidFill>
                <a:latin typeface="Calibri"/>
              </a:rPr>
              <a:t>TDS</a:t>
            </a:r>
          </a:p>
          <a:p>
            <a:pPr indent="-228600" marL="342900">
              <a:spcAft>
                <a:spcPts val="1000"/>
              </a:spcAft>
              <a:buChar char="▸"/>
            </a:pPr>
            <a:r>
              <a:rPr sz="1400">
                <a:solidFill>
                  <a:srgbClr val="1E293B"/>
                </a:solidFill>
                <a:latin typeface="Calibri"/>
              </a:rPr>
              <a:t>Salinity (PSU)</a:t>
            </a:r>
          </a:p>
          <a:p>
            <a:pPr indent="-228600" marL="342900">
              <a:spcAft>
                <a:spcPts val="1000"/>
              </a:spcAft>
              <a:buChar char="▸"/>
            </a:pPr>
            <a:r>
              <a:rPr sz="1400">
                <a:solidFill>
                  <a:srgbClr val="1E293B"/>
                </a:solidFill>
                <a:latin typeface="Calibri"/>
              </a:rPr>
              <a:t>Chlorophyll 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109728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0C4A6E"/>
                </a:solidFill>
                <a:latin typeface="Calibri"/>
              </a:rPr>
              <a:t>Weighted Water Quality Score (WQS)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WQS = Σ (Parameter Score × Weight)   —   normalised to 0–100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61872"/>
            <a:ext cx="24231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 i="0">
                <a:solidFill>
                  <a:srgbClr val="1E293B"/>
                </a:solidFill>
                <a:latin typeface="Calibri"/>
              </a:rPr>
              <a:t>Dissolved Oxygen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1261872"/>
            <a:ext cx="6858000" cy="4206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6080" y="1261872"/>
            <a:ext cx="1371600" cy="42062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261872"/>
            <a:ext cx="5029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792224"/>
            <a:ext cx="24231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 i="0">
                <a:solidFill>
                  <a:srgbClr val="1E293B"/>
                </a:solidFill>
                <a:latin typeface="Calibri"/>
              </a:rPr>
              <a:t>Phosphate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1792224"/>
            <a:ext cx="6858000" cy="4206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6080" y="1792224"/>
            <a:ext cx="1371600" cy="42062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792224"/>
            <a:ext cx="5029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322576"/>
            <a:ext cx="24231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 i="0">
                <a:solidFill>
                  <a:srgbClr val="1E293B"/>
                </a:solidFill>
                <a:latin typeface="Calibri"/>
              </a:rPr>
              <a:t>Nitrate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2322576"/>
            <a:ext cx="6858000" cy="4206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26080" y="2322576"/>
            <a:ext cx="1028700" cy="42062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46220" y="2322576"/>
            <a:ext cx="5029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2852928"/>
            <a:ext cx="24231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 i="0">
                <a:solidFill>
                  <a:srgbClr val="1E293B"/>
                </a:solidFill>
                <a:latin typeface="Calibri"/>
              </a:rPr>
              <a:t>Chlorophyll 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2852928"/>
            <a:ext cx="6858000" cy="4206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26080" y="2852928"/>
            <a:ext cx="1028700" cy="42062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46220" y="2852928"/>
            <a:ext cx="5029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15%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3383280"/>
            <a:ext cx="24231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 i="0">
                <a:solidFill>
                  <a:srgbClr val="1E293B"/>
                </a:solidFill>
                <a:latin typeface="Calibri"/>
              </a:rPr>
              <a:t>Ammonia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3383280"/>
            <a:ext cx="6858000" cy="4206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26080" y="3383280"/>
            <a:ext cx="685800" cy="42062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03320" y="3383280"/>
            <a:ext cx="5029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10%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3913632"/>
            <a:ext cx="24231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 i="0">
                <a:solidFill>
                  <a:srgbClr val="1E293B"/>
                </a:solidFill>
                <a:latin typeface="Calibri"/>
              </a:rPr>
              <a:t>Total Nitrogen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0" y="3913632"/>
            <a:ext cx="6858000" cy="4206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26080" y="3913632"/>
            <a:ext cx="685800" cy="42062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03320" y="3913632"/>
            <a:ext cx="5029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10%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4443984"/>
            <a:ext cx="24231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 i="0">
                <a:solidFill>
                  <a:srgbClr val="1E293B"/>
                </a:solidFill>
                <a:latin typeface="Calibri"/>
              </a:rPr>
              <a:t>Others combined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4443984"/>
            <a:ext cx="6858000" cy="4206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926080" y="4443984"/>
            <a:ext cx="685800" cy="42062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03320" y="4443984"/>
            <a:ext cx="5029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10%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49834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Classification bands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303520"/>
            <a:ext cx="2651760" cy="8412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303520"/>
            <a:ext cx="26517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80–100
Excellent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0" y="5303520"/>
            <a:ext cx="2468880" cy="841248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0" y="5303520"/>
            <a:ext cx="2468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60–80
Good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60720" y="5303520"/>
            <a:ext cx="2468880" cy="8412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60720" y="5303520"/>
            <a:ext cx="2468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40–60
Moderate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21040" y="5303520"/>
            <a:ext cx="2194560" cy="8412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1040" y="5303520"/>
            <a:ext cx="2194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&lt;40
Poor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Interactive Assessment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AE6FD"/>
                </a:solidFill>
                <a:latin typeface="Calibri"/>
              </a:rPr>
              <a:t>A browser-based tool — no installation required  |  Try it: [YOUR_URL_HERE]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3703320" cy="4663440"/>
          </a:xfrm>
          <a:prstGeom prst="rect">
            <a:avLst/>
          </a:prstGeom>
          <a:solidFill>
            <a:srgbClr val="0A3A56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3703320" cy="5669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3474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3337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marL="342900">
              <a:spcAft>
                <a:spcPts val="1400"/>
              </a:spcAft>
              <a:buChar char="▸"/>
            </a:pPr>
            <a:r>
              <a:rPr sz="1300">
                <a:solidFill>
                  <a:srgbClr val="E0F2FE"/>
                </a:solidFill>
                <a:latin typeface="Calibri"/>
              </a:rPr>
              <a:t>13 parameter input fields</a:t>
            </a:r>
          </a:p>
          <a:p>
            <a:pPr indent="-228600" marL="342900">
              <a:spcAft>
                <a:spcPts val="1400"/>
              </a:spcAft>
              <a:buChar char="▸"/>
            </a:pPr>
            <a:r>
              <a:rPr sz="1300">
                <a:solidFill>
                  <a:srgbClr val="E0F2FE"/>
                </a:solidFill>
                <a:latin typeface="Calibri"/>
              </a:rPr>
              <a:t>Threshold hints per parameter</a:t>
            </a:r>
          </a:p>
          <a:p>
            <a:pPr indent="-228600" marL="342900">
              <a:spcAft>
                <a:spcPts val="1400"/>
              </a:spcAft>
              <a:buChar char="▸"/>
            </a:pPr>
            <a:r>
              <a:rPr sz="1300">
                <a:solidFill>
                  <a:srgbClr val="E0F2FE"/>
                </a:solidFill>
                <a:latin typeface="Calibri"/>
              </a:rPr>
              <a:t>Preset scenarios: Healthy / Moderate / Eutrophic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1688" y="1417320"/>
            <a:ext cx="3703320" cy="4663440"/>
          </a:xfrm>
          <a:prstGeom prst="rect">
            <a:avLst/>
          </a:prstGeom>
          <a:solidFill>
            <a:srgbClr val="0A3A5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1688" y="1417320"/>
            <a:ext cx="3703320" cy="5669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1417320"/>
            <a:ext cx="3474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103120"/>
            <a:ext cx="3337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marL="342900">
              <a:spcAft>
                <a:spcPts val="1400"/>
              </a:spcAft>
              <a:buChar char="▸"/>
            </a:pPr>
            <a:r>
              <a:rPr sz="1300">
                <a:solidFill>
                  <a:srgbClr val="E0F2FE"/>
                </a:solidFill>
                <a:latin typeface="Calibri"/>
              </a:rPr>
              <a:t>Real-time WQS calculation</a:t>
            </a:r>
          </a:p>
          <a:p>
            <a:pPr indent="-228600" marL="342900">
              <a:spcAft>
                <a:spcPts val="1400"/>
              </a:spcAft>
              <a:buChar char="▸"/>
            </a:pPr>
            <a:r>
              <a:rPr sz="1300">
                <a:solidFill>
                  <a:srgbClr val="E0F2FE"/>
                </a:solidFill>
                <a:latin typeface="Calibri"/>
              </a:rPr>
              <a:t>Eutrophication risk engine (High / Moderate / Low)</a:t>
            </a:r>
          </a:p>
          <a:p>
            <a:pPr indent="-228600" marL="342900">
              <a:spcAft>
                <a:spcPts val="1400"/>
              </a:spcAft>
              <a:buChar char="▸"/>
            </a:pPr>
            <a:r>
              <a:rPr sz="1300">
                <a:solidFill>
                  <a:srgbClr val="E0F2FE"/>
                </a:solidFill>
                <a:latin typeface="Calibri"/>
              </a:rPr>
              <a:t>Parameter-by-parameter classification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11896" y="1417320"/>
            <a:ext cx="3703320" cy="4663440"/>
          </a:xfrm>
          <a:prstGeom prst="rect">
            <a:avLst/>
          </a:prstGeom>
          <a:solidFill>
            <a:srgbClr val="0A3A5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11896" y="1417320"/>
            <a:ext cx="3703320" cy="5669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9056" y="1417320"/>
            <a:ext cx="3474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Visualisation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0496" y="2103120"/>
            <a:ext cx="3337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marL="342900">
              <a:spcAft>
                <a:spcPts val="1400"/>
              </a:spcAft>
              <a:buChar char="▸"/>
            </a:pPr>
            <a:r>
              <a:rPr sz="1300">
                <a:solidFill>
                  <a:srgbClr val="E0F2FE"/>
                </a:solidFill>
                <a:latin typeface="Calibri"/>
              </a:rPr>
              <a:t>Animated arc gauge (0–100)</a:t>
            </a:r>
          </a:p>
          <a:p>
            <a:pPr indent="-228600" marL="342900">
              <a:spcAft>
                <a:spcPts val="1400"/>
              </a:spcAft>
              <a:buChar char="▸"/>
            </a:pPr>
            <a:r>
              <a:rPr sz="1300">
                <a:solidFill>
                  <a:srgbClr val="E0F2FE"/>
                </a:solidFill>
                <a:latin typeface="Calibri"/>
              </a:rPr>
              <a:t>Colour-coded parameter bars</a:t>
            </a:r>
          </a:p>
          <a:p>
            <a:pPr indent="-228600" marL="342900">
              <a:spcAft>
                <a:spcPts val="1400"/>
              </a:spcAft>
              <a:buChar char="▸"/>
            </a:pPr>
            <a:r>
              <a:rPr sz="1300">
                <a:solidFill>
                  <a:srgbClr val="E0F2FE"/>
                </a:solidFill>
                <a:latin typeface="Calibri"/>
              </a:rPr>
              <a:t>Plain-English risk explanation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73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336792"/>
            <a:ext cx="10972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1">
                <a:solidFill>
                  <a:srgbClr val="7DD3FC"/>
                </a:solidFill>
                <a:latin typeface="Calibri"/>
              </a:rPr>
              <a:t>Built with HTML, CSS &amp; JavaScript — accessible to all audiences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10058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0C4A6E"/>
                </a:solidFill>
                <a:latin typeface="Calibri"/>
              </a:rPr>
              <a:t>What This Project Demonstrates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5394960" cy="420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97280"/>
            <a:ext cx="5394960" cy="59436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097280"/>
            <a:ext cx="51206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Technical Skills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828800"/>
            <a:ext cx="4983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marL="342900">
              <a:spcAft>
                <a:spcPts val="1200"/>
              </a:spcAft>
              <a:buChar char="▸"/>
            </a:pPr>
            <a:r>
              <a:rPr sz="1350">
                <a:solidFill>
                  <a:srgbClr val="1E293B"/>
                </a:solidFill>
                <a:latin typeface="Calibri"/>
              </a:rPr>
              <a:t>Python data analysis &amp; scoring model design</a:t>
            </a:r>
          </a:p>
          <a:p>
            <a:pPr indent="-228600" marL="342900">
              <a:spcAft>
                <a:spcPts val="1200"/>
              </a:spcAft>
              <a:buChar char="▸"/>
            </a:pPr>
            <a:r>
              <a:rPr sz="1350">
                <a:solidFill>
                  <a:srgbClr val="1E293B"/>
                </a:solidFill>
                <a:latin typeface="Calibri"/>
              </a:rPr>
              <a:t>Excel workbook with live WQS formulas &amp; scenarios</a:t>
            </a:r>
          </a:p>
          <a:p>
            <a:pPr indent="-228600" marL="342900">
              <a:spcAft>
                <a:spcPts val="1200"/>
              </a:spcAft>
              <a:buChar char="▸"/>
            </a:pPr>
            <a:r>
              <a:rPr sz="1350">
                <a:solidFill>
                  <a:srgbClr val="1E293B"/>
                </a:solidFill>
                <a:latin typeface="Calibri"/>
              </a:rPr>
              <a:t>Interactive web tool development (HTML/CSS/JS)</a:t>
            </a:r>
          </a:p>
          <a:p>
            <a:pPr indent="-228600" marL="342900">
              <a:spcAft>
                <a:spcPts val="1200"/>
              </a:spcAft>
              <a:buChar char="▸"/>
            </a:pPr>
            <a:r>
              <a:rPr sz="1350">
                <a:solidFill>
                  <a:srgbClr val="1E293B"/>
                </a:solidFill>
                <a:latin typeface="Calibri"/>
              </a:rPr>
              <a:t>Parameter threshold research &amp; classification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097280"/>
            <a:ext cx="5394960" cy="420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097280"/>
            <a:ext cx="5394960" cy="59436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1" y="1097280"/>
            <a:ext cx="51206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Domain Knowledge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1828800"/>
            <a:ext cx="4983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marL="342900">
              <a:spcAft>
                <a:spcPts val="1200"/>
              </a:spcAft>
              <a:buChar char="▸"/>
            </a:pPr>
            <a:r>
              <a:rPr sz="1350">
                <a:solidFill>
                  <a:srgbClr val="1E293B"/>
                </a:solidFill>
                <a:latin typeface="Calibri"/>
              </a:rPr>
              <a:t>Freshwater eutrophication mechanisms</a:t>
            </a:r>
          </a:p>
          <a:p>
            <a:pPr indent="-228600" marL="342900">
              <a:spcAft>
                <a:spcPts val="1200"/>
              </a:spcAft>
              <a:buChar char="▸"/>
            </a:pPr>
            <a:r>
              <a:rPr sz="1350">
                <a:solidFill>
                  <a:srgbClr val="1E293B"/>
                </a:solidFill>
                <a:latin typeface="Calibri"/>
              </a:rPr>
              <a:t>Physicochemical water quality assessment</a:t>
            </a:r>
          </a:p>
          <a:p>
            <a:pPr indent="-228600" marL="342900">
              <a:spcAft>
                <a:spcPts val="1200"/>
              </a:spcAft>
              <a:buChar char="▸"/>
            </a:pPr>
            <a:r>
              <a:rPr sz="1350">
                <a:solidFill>
                  <a:srgbClr val="1E293B"/>
                </a:solidFill>
                <a:latin typeface="Calibri"/>
              </a:rPr>
              <a:t>Application of peer-reviewed parameter thresholds</a:t>
            </a:r>
          </a:p>
          <a:p>
            <a:pPr indent="-228600" marL="342900">
              <a:spcAft>
                <a:spcPts val="1200"/>
              </a:spcAft>
              <a:buChar char="▸"/>
            </a:pPr>
            <a:r>
              <a:rPr sz="1350">
                <a:solidFill>
                  <a:srgbClr val="1E293B"/>
                </a:solidFill>
                <a:latin typeface="Calibri"/>
              </a:rPr>
              <a:t>Environmental monitoring &amp; risk communication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5577840"/>
            <a:ext cx="11594592" cy="100584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623560"/>
            <a:ext cx="11274552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1">
                <a:solidFill>
                  <a:srgbClr val="BAE6FD"/>
                </a:solidFill>
                <a:latin typeface="Calibri"/>
              </a:rPr>
              <a:t>All thresholds grounded in peer-reviewed literature: Boyd (2019), Carlson TSI (1977), Elser et al. (2022), US EPA, WHO, and MSc experimental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